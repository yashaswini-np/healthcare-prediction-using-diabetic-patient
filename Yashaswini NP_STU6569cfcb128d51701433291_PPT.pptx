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292" r:id="rId5"/>
    <p:sldId id="1085" r:id="rId6"/>
    <p:sldId id="1282" r:id="rId7"/>
    <p:sldId id="352" r:id="rId8"/>
    <p:sldId id="1283" r:id="rId9"/>
    <p:sldId id="1284" r:id="rId10"/>
    <p:sldId id="1285" r:id="rId11"/>
    <p:sldId id="1286" r:id="rId12"/>
    <p:sldId id="1287" r:id="rId13"/>
    <p:sldId id="1288" r:id="rId14"/>
    <p:sldId id="124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2" userDrawn="1">
          <p15:clr>
            <a:srgbClr val="A4A3A4"/>
          </p15:clr>
        </p15:guide>
        <p15:guide id="2" pos="144" userDrawn="1">
          <p15:clr>
            <a:srgbClr val="A4A3A4"/>
          </p15:clr>
        </p15:guide>
        <p15:guide id="3" orient="horz" pos="876"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D8C"/>
    <a:srgbClr val="9F5900"/>
    <a:srgbClr val="FF3300"/>
    <a:srgbClr val="FFFFFF"/>
    <a:srgbClr val="C00000"/>
    <a:srgbClr val="F8FFB3"/>
    <a:srgbClr val="BAF8FF"/>
    <a:srgbClr val="92A000"/>
    <a:srgbClr val="00F4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7CF7F1-7CAA-4DC0-9048-B64EAE86934F}" v="7" dt="2023-12-04T12:32:08.900"/>
    <p1510:client id="{697BBB05-EA49-5974-803B-3432B049DCD8}" v="6" dt="2023-12-08T04:07:58.937"/>
    <p1510:client id="{6F97CF94-EB01-4273-B9A1-ED7F320C5B7B}" v="24" dt="2023-12-04T11:22:22.945"/>
    <p1510:client id="{7094B356-6A63-4C5D-8B0D-8F4A4AC3300D}" v="433" dt="2023-12-04T12:29:14.268"/>
    <p1510:client id="{D2FC5878-C48A-6225-7638-1A0BF20652E2}" v="2" dt="2024-01-09T12:10:42.015"/>
    <p1510:client id="{EBCF8880-FAE4-FC29-0501-2FD7CBFB08AD}" v="152" dt="2023-12-04T12:50:50.4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612"/>
        <p:guide pos="144"/>
        <p:guide orient="horz" pos="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138187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gn="l">
              <a:lnSpc>
                <a:spcPct val="100000"/>
              </a:lnSpc>
              <a:spcBef>
                <a:spcPts val="0"/>
              </a:spcBef>
              <a:spcAft>
                <a:spcPts val="0"/>
              </a:spcAft>
              <a:buSzPts val="1100"/>
              <a:buNone/>
            </a:pPr>
            <a:endParaRPr lang="en"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0727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168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4673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127230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20AF-DAB3-AF56-0E9E-AF09366E1C58}"/>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E94062-A8DA-FF94-75FB-627CFD210DD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7C2465-8FB6-450F-4CAF-67F82FD4C166}"/>
              </a:ext>
            </a:extLst>
          </p:cNvPr>
          <p:cNvSpPr>
            <a:spLocks noGrp="1"/>
          </p:cNvSpPr>
          <p:nvPr>
            <p:ph type="dt" sz="half" idx="10"/>
          </p:nvPr>
        </p:nvSpPr>
        <p:spPr>
          <a:xfrm>
            <a:off x="628650" y="4767263"/>
            <a:ext cx="2057400" cy="274637"/>
          </a:xfrm>
          <a:prstGeom prst="rect">
            <a:avLst/>
          </a:prstGeom>
        </p:spPr>
        <p:txBody>
          <a:bodyPr/>
          <a:lstStyle/>
          <a:p>
            <a:fld id="{6275EE38-1560-4543-B65C-40BD61BB92F2}" type="datetimeFigureOut">
              <a:rPr lang="en-US" smtClean="0"/>
              <a:t>12/7/2025</a:t>
            </a:fld>
            <a:endParaRPr lang="en-US"/>
          </a:p>
        </p:txBody>
      </p:sp>
      <p:sp>
        <p:nvSpPr>
          <p:cNvPr id="5" name="Footer Placeholder 4">
            <a:extLst>
              <a:ext uri="{FF2B5EF4-FFF2-40B4-BE49-F238E27FC236}">
                <a16:creationId xmlns:a16="http://schemas.microsoft.com/office/drawing/2014/main" id="{D86C3B52-DF7D-6850-E242-C3F4757D8A6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05730AA-ACFB-BBDD-7AA3-8CDEE55C3F27}"/>
              </a:ext>
            </a:extLst>
          </p:cNvPr>
          <p:cNvSpPr>
            <a:spLocks noGrp="1"/>
          </p:cNvSpPr>
          <p:nvPr>
            <p:ph type="sldNum" sz="quarter" idx="12"/>
          </p:nvPr>
        </p:nvSpPr>
        <p:spPr>
          <a:xfrm>
            <a:off x="6457950" y="4767263"/>
            <a:ext cx="2057400" cy="274637"/>
          </a:xfrm>
          <a:prstGeom prst="rect">
            <a:avLst/>
          </a:prstGeom>
        </p:spPr>
        <p:txBody>
          <a:bodyPr/>
          <a:lstStyle/>
          <a:p>
            <a:fld id="{5F533B4F-60C7-445E-9813-BC2C392C2510}" type="slidenum">
              <a:rPr lang="en-US" smtClean="0"/>
              <a:t>‹#›</a:t>
            </a:fld>
            <a:endParaRPr lang="en-US"/>
          </a:p>
        </p:txBody>
      </p:sp>
    </p:spTree>
    <p:extLst>
      <p:ext uri="{BB962C8B-B14F-4D97-AF65-F5344CB8AC3E}">
        <p14:creationId xmlns:p14="http://schemas.microsoft.com/office/powerpoint/2010/main" val="182341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chemeClr val="tx1"/>
                </a:solidFill>
                <a:latin typeface="Arial MT"/>
                <a:cs typeface="Arial MT"/>
              </a:defRPr>
            </a:lvl1pPr>
          </a:lstStyle>
          <a:p>
            <a:pPr marL="12700">
              <a:lnSpc>
                <a:spcPct val="100000"/>
              </a:lnSpc>
              <a:spcBef>
                <a:spcPts val="25"/>
              </a:spcBef>
            </a:pP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FD61DA6-D9C3-4FDE-8A87-022315D71125}" type="datetime1">
              <a:rPr lang="en-US" smtClean="0"/>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37878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4" name="Rectangle 3">
            <a:extLst>
              <a:ext uri="{FF2B5EF4-FFF2-40B4-BE49-F238E27FC236}">
                <a16:creationId xmlns:a16="http://schemas.microsoft.com/office/drawing/2014/main" id="{B97B0C45-392E-206A-6503-A52CA087AB64}"/>
              </a:ext>
            </a:extLst>
          </p:cNvPr>
          <p:cNvSpPr/>
          <p:nvPr userDrawn="1"/>
        </p:nvSpPr>
        <p:spPr>
          <a:xfrm>
            <a:off x="0" y="122877"/>
            <a:ext cx="9144000" cy="467289"/>
          </a:xfrm>
          <a:prstGeom prst="rect">
            <a:avLst/>
          </a:prstGeom>
          <a:solidFill>
            <a:srgbClr val="223366"/>
          </a:solidFill>
          <a:ln>
            <a:solidFill>
              <a:srgbClr val="223366"/>
            </a:solidFill>
          </a:ln>
          <a:effectLst>
            <a:outerShdw blurRad="50800" dist="38100" dir="54000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F9D9AD1-C7C2-FFF1-54BA-8514D18B8369}"/>
              </a:ext>
            </a:extLst>
          </p:cNvPr>
          <p:cNvSpPr/>
          <p:nvPr userDrawn="1"/>
        </p:nvSpPr>
        <p:spPr>
          <a:xfrm>
            <a:off x="0" y="4935061"/>
            <a:ext cx="9144000" cy="208439"/>
          </a:xfrm>
          <a:prstGeom prst="rect">
            <a:avLst/>
          </a:prstGeom>
          <a:solidFill>
            <a:srgbClr val="8519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759FAC2-2004-4EAC-FA79-8395FA9E5834}"/>
              </a:ext>
            </a:extLst>
          </p:cNvPr>
          <p:cNvSpPr/>
          <p:nvPr userDrawn="1"/>
        </p:nvSpPr>
        <p:spPr>
          <a:xfrm>
            <a:off x="7283428" y="62784"/>
            <a:ext cx="1109472" cy="584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13">
            <a:alphaModFix/>
          </a:blip>
          <a:srcRect/>
          <a:stretch/>
        </p:blipFill>
        <p:spPr>
          <a:xfrm>
            <a:off x="7411959" y="234964"/>
            <a:ext cx="852410" cy="2849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6" r:id="rId1"/>
    <p:sldLayoutId id="2147483654" r:id="rId2"/>
    <p:sldLayoutId id="2147483668" r:id="rId3"/>
    <p:sldLayoutId id="2147483669" r:id="rId4"/>
    <p:sldLayoutId id="2147483670" r:id="rId5"/>
    <p:sldLayoutId id="2147483656" r:id="rId6"/>
    <p:sldLayoutId id="2147483657" r:id="rId7"/>
    <p:sldLayoutId id="2147483659" r:id="rId8"/>
    <p:sldLayoutId id="2147483674" r:id="rId9"/>
    <p:sldLayoutId id="2147483687" r:id="rId10"/>
    <p:sldLayoutId id="214748370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everhour.com/blog/what-is-github/"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background with black lines&#10;&#10;Description automatically generated">
            <a:extLst>
              <a:ext uri="{FF2B5EF4-FFF2-40B4-BE49-F238E27FC236}">
                <a16:creationId xmlns:a16="http://schemas.microsoft.com/office/drawing/2014/main" id="{A0452551-6A12-AB4D-455D-D9670168F55B}"/>
              </a:ext>
            </a:extLst>
          </p:cNvPr>
          <p:cNvPicPr>
            <a:picLocks noChangeAspect="1"/>
          </p:cNvPicPr>
          <p:nvPr/>
        </p:nvPicPr>
        <p:blipFill rotWithShape="1">
          <a:blip r:embed="rId3">
            <a:alphaModFix amt="13000"/>
          </a:blip>
          <a:srcRect l="1562" t="11699" r="24164" b="4426"/>
          <a:stretch/>
        </p:blipFill>
        <p:spPr>
          <a:xfrm>
            <a:off x="111566" y="629448"/>
            <a:ext cx="5735756" cy="4314093"/>
          </a:xfrm>
          <a:prstGeom prst="rect">
            <a:avLst/>
          </a:prstGeom>
        </p:spPr>
      </p:pic>
      <p:sp>
        <p:nvSpPr>
          <p:cNvPr id="2" name="TextBox 1">
            <a:extLst>
              <a:ext uri="{FF2B5EF4-FFF2-40B4-BE49-F238E27FC236}">
                <a16:creationId xmlns:a16="http://schemas.microsoft.com/office/drawing/2014/main" id="{B1520DAD-F8CC-E505-163A-1A40C1FCC226}"/>
              </a:ext>
            </a:extLst>
          </p:cNvPr>
          <p:cNvSpPr txBox="1"/>
          <p:nvPr/>
        </p:nvSpPr>
        <p:spPr>
          <a:xfrm>
            <a:off x="405913" y="1401500"/>
            <a:ext cx="3965230" cy="1384995"/>
          </a:xfrm>
          <a:prstGeom prst="rect">
            <a:avLst/>
          </a:prstGeom>
          <a:noFill/>
        </p:spPr>
        <p:txBody>
          <a:bodyPr wrap="square" rtlCol="0">
            <a:spAutoFit/>
          </a:bodyPr>
          <a:lstStyle/>
          <a:p>
            <a:r>
              <a:rPr lang="en-US" sz="2800" b="1">
                <a:solidFill>
                  <a:srgbClr val="161D23"/>
                </a:solidFill>
              </a:rPr>
              <a:t>NEXT GEN EMPLOYABILITY PROGRAM</a:t>
            </a:r>
          </a:p>
        </p:txBody>
      </p:sp>
      <p:sp>
        <p:nvSpPr>
          <p:cNvPr id="5" name="Rectangle 4">
            <a:extLst>
              <a:ext uri="{FF2B5EF4-FFF2-40B4-BE49-F238E27FC236}">
                <a16:creationId xmlns:a16="http://schemas.microsoft.com/office/drawing/2014/main" id="{539A258B-CAEC-B6C0-5059-18B5DEA4827A}"/>
              </a:ext>
            </a:extLst>
          </p:cNvPr>
          <p:cNvSpPr/>
          <p:nvPr/>
        </p:nvSpPr>
        <p:spPr>
          <a:xfrm>
            <a:off x="9048762" y="0"/>
            <a:ext cx="119381" cy="5143500"/>
          </a:xfrm>
          <a:prstGeom prst="rect">
            <a:avLst/>
          </a:prstGeom>
          <a:solidFill>
            <a:srgbClr val="FFE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A70D2AA-FB53-34A2-095E-ECE657C06B18}"/>
              </a:ext>
            </a:extLst>
          </p:cNvPr>
          <p:cNvSpPr/>
          <p:nvPr/>
        </p:nvSpPr>
        <p:spPr>
          <a:xfrm>
            <a:off x="-7815" y="0"/>
            <a:ext cx="119381" cy="5143500"/>
          </a:xfrm>
          <a:prstGeom prst="rect">
            <a:avLst/>
          </a:prstGeom>
          <a:solidFill>
            <a:srgbClr val="22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C4CF228-26B3-09C5-44DF-CA8F345519C2}"/>
              </a:ext>
            </a:extLst>
          </p:cNvPr>
          <p:cNvSpPr/>
          <p:nvPr/>
        </p:nvSpPr>
        <p:spPr>
          <a:xfrm>
            <a:off x="524598" y="2870899"/>
            <a:ext cx="23461" cy="1124328"/>
          </a:xfrm>
          <a:prstGeom prst="rect">
            <a:avLst/>
          </a:prstGeom>
          <a:solidFill>
            <a:srgbClr val="FFE600"/>
          </a:solidFill>
          <a:ln>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054292D-CF71-BD6B-6494-F0C14CB8262D}"/>
              </a:ext>
            </a:extLst>
          </p:cNvPr>
          <p:cNvSpPr txBox="1"/>
          <p:nvPr/>
        </p:nvSpPr>
        <p:spPr>
          <a:xfrm>
            <a:off x="575162" y="2871569"/>
            <a:ext cx="2727901" cy="1200329"/>
          </a:xfrm>
          <a:prstGeom prst="rect">
            <a:avLst/>
          </a:prstGeom>
          <a:noFill/>
        </p:spPr>
        <p:txBody>
          <a:bodyPr wrap="square" rtlCol="0">
            <a:spAutoFit/>
          </a:bodyPr>
          <a:lstStyle/>
          <a:p>
            <a:r>
              <a:rPr lang="en-US" sz="2400">
                <a:solidFill>
                  <a:srgbClr val="161D23"/>
                </a:solidFill>
              </a:rPr>
              <a:t>CREATING A FUTURE-READY WORKFORCE</a:t>
            </a:r>
          </a:p>
        </p:txBody>
      </p:sp>
      <p:pic>
        <p:nvPicPr>
          <p:cNvPr id="8" name="Picture 7">
            <a:extLst>
              <a:ext uri="{FF2B5EF4-FFF2-40B4-BE49-F238E27FC236}">
                <a16:creationId xmlns:a16="http://schemas.microsoft.com/office/drawing/2014/main" id="{F1BABFF0-3A7F-30AE-5C78-B2465A8294CF}"/>
              </a:ext>
            </a:extLst>
          </p:cNvPr>
          <p:cNvPicPr>
            <a:picLocks noChangeAspect="1"/>
          </p:cNvPicPr>
          <p:nvPr/>
        </p:nvPicPr>
        <p:blipFill rotWithShape="1">
          <a:blip r:embed="rId4">
            <a:extLst>
              <a:ext uri="{28A0092B-C50C-407E-A947-70E740481C1C}">
                <a14:useLocalDpi xmlns:a14="http://schemas.microsoft.com/office/drawing/2010/main" val="0"/>
              </a:ext>
            </a:extLst>
          </a:blip>
          <a:srcRect l="24767"/>
          <a:stretch/>
        </p:blipFill>
        <p:spPr>
          <a:xfrm>
            <a:off x="4560067" y="602559"/>
            <a:ext cx="4483359" cy="43494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background with black lines&#10;&#10;Description automatically generated">
            <a:extLst>
              <a:ext uri="{FF2B5EF4-FFF2-40B4-BE49-F238E27FC236}">
                <a16:creationId xmlns:a16="http://schemas.microsoft.com/office/drawing/2014/main" id="{8499578D-1974-D02F-8C4E-2E88D065B8F0}"/>
              </a:ext>
            </a:extLst>
          </p:cNvPr>
          <p:cNvPicPr>
            <a:picLocks noChangeAspect="1"/>
          </p:cNvPicPr>
          <p:nvPr/>
        </p:nvPicPr>
        <p:blipFill rotWithShape="1">
          <a:blip r:embed="rId3">
            <a:alphaModFix amt="13000"/>
          </a:blip>
          <a:srcRect l="1234" t="10895" b="18028"/>
          <a:stretch/>
        </p:blipFill>
        <p:spPr>
          <a:xfrm>
            <a:off x="110365" y="656492"/>
            <a:ext cx="8935392" cy="4282831"/>
          </a:xfrm>
          <a:prstGeom prst="rect">
            <a:avLst/>
          </a:prstGeom>
        </p:spPr>
      </p:pic>
      <p:sp>
        <p:nvSpPr>
          <p:cNvPr id="3" name="Rectangle 2">
            <a:extLst>
              <a:ext uri="{FF2B5EF4-FFF2-40B4-BE49-F238E27FC236}">
                <a16:creationId xmlns:a16="http://schemas.microsoft.com/office/drawing/2014/main" id="{94AFB96E-D063-2D80-C867-61F310BAEC2B}"/>
              </a:ext>
            </a:extLst>
          </p:cNvPr>
          <p:cNvSpPr/>
          <p:nvPr/>
        </p:nvSpPr>
        <p:spPr>
          <a:xfrm>
            <a:off x="-7815" y="0"/>
            <a:ext cx="119381" cy="5143500"/>
          </a:xfrm>
          <a:prstGeom prst="rect">
            <a:avLst/>
          </a:prstGeom>
          <a:solidFill>
            <a:srgbClr val="22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Top Corners Rounded 3">
            <a:extLst>
              <a:ext uri="{FF2B5EF4-FFF2-40B4-BE49-F238E27FC236}">
                <a16:creationId xmlns:a16="http://schemas.microsoft.com/office/drawing/2014/main" id="{33376896-0AA1-1F1A-0A07-0153EA6E7A5C}"/>
              </a:ext>
            </a:extLst>
          </p:cNvPr>
          <p:cNvSpPr/>
          <p:nvPr/>
        </p:nvSpPr>
        <p:spPr>
          <a:xfrm rot="5400000">
            <a:off x="151054" y="930260"/>
            <a:ext cx="3211467" cy="3291141"/>
          </a:xfrm>
          <a:prstGeom prst="round2SameRect">
            <a:avLst/>
          </a:prstGeom>
          <a:solidFill>
            <a:srgbClr val="22336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Top Corners Rounded 4">
            <a:extLst>
              <a:ext uri="{FF2B5EF4-FFF2-40B4-BE49-F238E27FC236}">
                <a16:creationId xmlns:a16="http://schemas.microsoft.com/office/drawing/2014/main" id="{B8B40143-E777-9572-674C-6F9FB0A8C197}"/>
              </a:ext>
            </a:extLst>
          </p:cNvPr>
          <p:cNvSpPr/>
          <p:nvPr/>
        </p:nvSpPr>
        <p:spPr>
          <a:xfrm rot="5400000" flipH="1" flipV="1">
            <a:off x="5790159" y="827723"/>
            <a:ext cx="3257551" cy="3450130"/>
          </a:xfrm>
          <a:prstGeom prst="round2SameRect">
            <a:avLst/>
          </a:prstGeom>
          <a:solidFill>
            <a:srgbClr val="C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Rectangle: Rounded Corners 8">
            <a:extLst>
              <a:ext uri="{FF2B5EF4-FFF2-40B4-BE49-F238E27FC236}">
                <a16:creationId xmlns:a16="http://schemas.microsoft.com/office/drawing/2014/main" id="{C319F0F6-4D63-17C0-67E5-6FB8E80FF122}"/>
              </a:ext>
            </a:extLst>
          </p:cNvPr>
          <p:cNvSpPr/>
          <p:nvPr/>
        </p:nvSpPr>
        <p:spPr>
          <a:xfrm>
            <a:off x="1704929" y="1289956"/>
            <a:ext cx="5734143" cy="2571750"/>
          </a:xfrm>
          <a:prstGeom prst="roundRect">
            <a:avLst/>
          </a:prstGeom>
          <a:solidFill>
            <a:srgbClr val="223366"/>
          </a:solidFill>
          <a:ln>
            <a:solidFill>
              <a:srgbClr val="22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cs typeface="Arial"/>
              </a:rPr>
              <a:t>Student Name : YASHASWINI N P</a:t>
            </a:r>
          </a:p>
          <a:p>
            <a:r>
              <a:rPr lang="en-US" sz="1400" dirty="0">
                <a:cs typeface="Arial"/>
              </a:rPr>
              <a:t>Student ID </a:t>
            </a:r>
            <a:r>
              <a:rPr lang="en-US" dirty="0">
                <a:cs typeface="Arial"/>
              </a:rPr>
              <a:t>: STU6569cfcb128d51701433291</a:t>
            </a:r>
            <a:endParaRPr lang="en-US" sz="1400" dirty="0">
              <a:cs typeface="Arial"/>
            </a:endParaRPr>
          </a:p>
          <a:p>
            <a:r>
              <a:rPr lang="en-US" sz="1400" dirty="0">
                <a:cs typeface="Arial"/>
              </a:rPr>
              <a:t>College Name : APS COLLEGE OF ENGINEERING</a:t>
            </a:r>
            <a:endParaRPr lang="en-US" sz="1400" dirty="0"/>
          </a:p>
        </p:txBody>
      </p:sp>
      <p:sp>
        <p:nvSpPr>
          <p:cNvPr id="12" name="Rectangle 11">
            <a:extLst>
              <a:ext uri="{FF2B5EF4-FFF2-40B4-BE49-F238E27FC236}">
                <a16:creationId xmlns:a16="http://schemas.microsoft.com/office/drawing/2014/main" id="{FDF9F27E-3244-EA23-3575-26D9E2441D4F}"/>
              </a:ext>
            </a:extLst>
          </p:cNvPr>
          <p:cNvSpPr/>
          <p:nvPr/>
        </p:nvSpPr>
        <p:spPr>
          <a:xfrm>
            <a:off x="9048762" y="0"/>
            <a:ext cx="119381" cy="5143500"/>
          </a:xfrm>
          <a:prstGeom prst="rect">
            <a:avLst/>
          </a:prstGeom>
          <a:solidFill>
            <a:srgbClr val="FFE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1132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Rectangle 4">
            <a:extLst>
              <a:ext uri="{FF2B5EF4-FFF2-40B4-BE49-F238E27FC236}">
                <a16:creationId xmlns:a16="http://schemas.microsoft.com/office/drawing/2014/main" id="{32E75419-EBB8-B110-2A58-C75BF33BBB24}"/>
              </a:ext>
            </a:extLst>
          </p:cNvPr>
          <p:cNvSpPr/>
          <p:nvPr/>
        </p:nvSpPr>
        <p:spPr>
          <a:xfrm>
            <a:off x="0" y="594857"/>
            <a:ext cx="9144000" cy="2259662"/>
          </a:xfrm>
          <a:prstGeom prst="rect">
            <a:avLst/>
          </a:prstGeom>
          <a:solidFill>
            <a:srgbClr val="243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B8B2F1D2-B3CD-47D4-C97B-3CE2F64AFC82}"/>
              </a:ext>
            </a:extLst>
          </p:cNvPr>
          <p:cNvSpPr txBox="1"/>
          <p:nvPr/>
        </p:nvSpPr>
        <p:spPr>
          <a:xfrm>
            <a:off x="1309844" y="1389165"/>
            <a:ext cx="6524311" cy="45685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30"/>
              </a:lnSpc>
              <a:spcBef>
                <a:spcPct val="0"/>
              </a:spcBef>
            </a:pPr>
            <a:r>
              <a:rPr lang="en-US" sz="2800" b="1" dirty="0">
                <a:solidFill>
                  <a:srgbClr val="FFE600"/>
                </a:solidFill>
                <a:latin typeface="Arial"/>
                <a:cs typeface="Arial"/>
              </a:rPr>
              <a:t>CAPSTONE PROJECT SHOWCASE</a:t>
            </a:r>
          </a:p>
        </p:txBody>
      </p:sp>
      <p:sp>
        <p:nvSpPr>
          <p:cNvPr id="8" name="TextBox 10">
            <a:extLst>
              <a:ext uri="{FF2B5EF4-FFF2-40B4-BE49-F238E27FC236}">
                <a16:creationId xmlns:a16="http://schemas.microsoft.com/office/drawing/2014/main" id="{D4240D32-9BCC-D793-EF34-3F436C714765}"/>
              </a:ext>
            </a:extLst>
          </p:cNvPr>
          <p:cNvSpPr txBox="1"/>
          <p:nvPr/>
        </p:nvSpPr>
        <p:spPr>
          <a:xfrm>
            <a:off x="-920321" y="3188941"/>
            <a:ext cx="10558307" cy="25648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50" dirty="0">
                <a:solidFill>
                  <a:srgbClr val="0066A1"/>
                </a:solidFill>
                <a:latin typeface="Poppins"/>
              </a:rPr>
              <a:t>Project Title :</a:t>
            </a:r>
            <a:r>
              <a:rPr lang="en-US" sz="1650" b="1" dirty="0">
                <a:solidFill>
                  <a:srgbClr val="0066A1"/>
                </a:solidFill>
                <a:latin typeface="Poppins"/>
              </a:rPr>
              <a:t> </a:t>
            </a:r>
            <a:r>
              <a:rPr lang="en-US" sz="1650" b="1" dirty="0">
                <a:solidFill>
                  <a:srgbClr val="0066A1"/>
                </a:solidFill>
                <a:latin typeface="Times New Roman" panose="02020603050405020304" pitchFamily="18" charset="0"/>
                <a:cs typeface="Times New Roman" panose="02020603050405020304" pitchFamily="18" charset="0"/>
              </a:rPr>
              <a:t>DA- ‘‘ </a:t>
            </a:r>
            <a:r>
              <a:rPr lang="en-US" dirty="0">
                <a:latin typeface="Times New Roman" panose="02020603050405020304" pitchFamily="18" charset="0"/>
                <a:cs typeface="Times New Roman" panose="02020603050405020304" pitchFamily="18" charset="0"/>
              </a:rPr>
              <a:t>HealthCare Prediction on Diabetic Patients using Python</a:t>
            </a:r>
            <a:r>
              <a:rPr lang="en-US" sz="1650" b="1" dirty="0">
                <a:solidFill>
                  <a:srgbClr val="0066A1"/>
                </a:solidFill>
                <a:latin typeface="Poppins"/>
              </a:rPr>
              <a:t> ’’</a:t>
            </a:r>
            <a:endParaRPr lang="en-US" sz="1650" b="1" dirty="0">
              <a:solidFill>
                <a:srgbClr val="0066A1"/>
              </a:solidFill>
              <a:latin typeface="Poppins"/>
              <a:cs typeface="Poppins"/>
            </a:endParaRPr>
          </a:p>
        </p:txBody>
      </p:sp>
      <p:sp>
        <p:nvSpPr>
          <p:cNvPr id="9" name="TextBox 7">
            <a:extLst>
              <a:ext uri="{FF2B5EF4-FFF2-40B4-BE49-F238E27FC236}">
                <a16:creationId xmlns:a16="http://schemas.microsoft.com/office/drawing/2014/main" id="{9AF297CE-9F11-2600-2058-A27EC2B5D9D4}"/>
              </a:ext>
            </a:extLst>
          </p:cNvPr>
          <p:cNvSpPr txBox="1"/>
          <p:nvPr/>
        </p:nvSpPr>
        <p:spPr>
          <a:xfrm>
            <a:off x="374305" y="4036323"/>
            <a:ext cx="8395386" cy="51232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50" dirty="0">
                <a:solidFill>
                  <a:schemeClr val="accent2">
                    <a:lumMod val="75000"/>
                  </a:schemeClr>
                </a:solidFill>
                <a:latin typeface="Poppins"/>
              </a:rPr>
              <a:t>Abstract | Problem Statement | Project Overview |</a:t>
            </a:r>
            <a:r>
              <a:rPr lang="en-US" sz="1650" dirty="0">
                <a:solidFill>
                  <a:schemeClr val="accent2">
                    <a:lumMod val="75000"/>
                  </a:schemeClr>
                </a:solidFill>
                <a:latin typeface="Poppins"/>
                <a:ea typeface="+mn-lt"/>
                <a:cs typeface="Poppins"/>
              </a:rPr>
              <a:t> Proposed </a:t>
            </a:r>
            <a:r>
              <a:rPr lang="en-US" sz="1650" dirty="0">
                <a:solidFill>
                  <a:schemeClr val="accent2">
                    <a:lumMod val="75000"/>
                  </a:schemeClr>
                </a:solidFill>
                <a:latin typeface="Poppins"/>
                <a:ea typeface="+mn-lt"/>
                <a:cs typeface="+mn-lt"/>
              </a:rPr>
              <a:t>Solution </a:t>
            </a:r>
            <a:r>
              <a:rPr lang="en-US" sz="1650" dirty="0">
                <a:solidFill>
                  <a:schemeClr val="accent2">
                    <a:lumMod val="75000"/>
                  </a:schemeClr>
                </a:solidFill>
                <a:latin typeface="Poppins"/>
              </a:rPr>
              <a:t>| </a:t>
            </a:r>
            <a:r>
              <a:rPr lang="en-US" sz="1650" dirty="0">
                <a:solidFill>
                  <a:schemeClr val="accent2">
                    <a:lumMod val="75000"/>
                  </a:schemeClr>
                </a:solidFill>
                <a:latin typeface="Poppins"/>
                <a:ea typeface="+mn-lt"/>
                <a:cs typeface="Poppins"/>
              </a:rPr>
              <a:t>Technology Used</a:t>
            </a:r>
            <a:r>
              <a:rPr lang="en-US" sz="1650" dirty="0">
                <a:solidFill>
                  <a:schemeClr val="accent2">
                    <a:lumMod val="75000"/>
                  </a:schemeClr>
                </a:solidFill>
                <a:latin typeface="Poppins"/>
              </a:rPr>
              <a:t> | Modelling &amp; Results </a:t>
            </a:r>
            <a:r>
              <a:rPr lang="en-US" sz="1650" dirty="0">
                <a:solidFill>
                  <a:schemeClr val="accent2">
                    <a:lumMod val="75000"/>
                  </a:schemeClr>
                </a:solidFill>
                <a:latin typeface="Poppins"/>
                <a:ea typeface="+mn-lt"/>
                <a:cs typeface="+mn-lt"/>
              </a:rPr>
              <a:t>| Conclusion | Q&amp;A</a:t>
            </a:r>
            <a:endParaRPr lang="en-US" dirty="0">
              <a:solidFill>
                <a:schemeClr val="accent2">
                  <a:lumMod val="75000"/>
                </a:schemeClr>
              </a:solidFill>
              <a:latin typeface="Poppins"/>
              <a:cs typeface="Poppins"/>
            </a:endParaRPr>
          </a:p>
        </p:txBody>
      </p:sp>
    </p:spTree>
    <p:extLst>
      <p:ext uri="{BB962C8B-B14F-4D97-AF65-F5344CB8AC3E}">
        <p14:creationId xmlns:p14="http://schemas.microsoft.com/office/powerpoint/2010/main" val="3232110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Abstract</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246646" y="1353500"/>
            <a:ext cx="7846320"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data analysis project, titled "HealthCare Prediction on Diabetic Patients using Python," aims to employ machine learning techniques to predict the likelihood of diabetes in patients based on relevant health indicators.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Leveraging a dataset containing clinical features, the project employs Python programming language, along with popular data analysis libraries such as Pandas, NumPy, and Scikit-learn , through these the project conducts exploratory data analysis and develops a predictive model.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The objective is to develop a predictive model that assists healthcare professionals in early identification and intervention for individuals at risk of diabetes and contributing to proactive healthcare management and disease prevention.</a:t>
            </a:r>
          </a:p>
          <a:p>
            <a:pPr marL="173355" indent="-173355">
              <a:spcBef>
                <a:spcPts val="200"/>
              </a:spcBef>
              <a:buClr>
                <a:srgbClr val="213163"/>
              </a:buCl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30180"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dirty="0">
                <a:solidFill>
                  <a:schemeClr val="bg1"/>
                </a:solidFill>
                <a:hlinkClick r:id="rId3">
                  <a:extLst>
                    <a:ext uri="{A12FA001-AC4F-418D-AE19-62706E023703}">
                      <ahyp:hlinkClr xmlns:ahyp="http://schemas.microsoft.com/office/drawing/2018/hyperlinkcolor" val="tx"/>
                    </a:ext>
                  </a:extLst>
                </a:hlinkClick>
              </a:rPr>
              <a:t>Reference link</a:t>
            </a:r>
            <a:endParaRPr lang="en-IN" sz="1200" dirty="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Tree>
    <p:extLst>
      <p:ext uri="{BB962C8B-B14F-4D97-AF65-F5344CB8AC3E}">
        <p14:creationId xmlns:p14="http://schemas.microsoft.com/office/powerpoint/2010/main" val="304216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Problem Statement</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404302" y="1246131"/>
            <a:ext cx="8046015"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problem addressed in the "HealthCare Prediction on Diabetic Patients using Python" data analysis project revolves around the increasing prevalence of diabetes and the need for proactive healthcare measures.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With the rising number of diabetic cases, there is a crucial requirement for an effective predictive tool that can assess the likelihood of individuals developing diabetes based on key health indicators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aims to fill this gap by employing data analysis techniques to create a predictive model.</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problem is approached through data exploration, preprocessing, feature selection, and the implementation of various classification algorithms to achieve the best predictive performance.</a:t>
            </a:r>
          </a:p>
          <a:p>
            <a:pPr marL="173355" indent="-173355">
              <a:spcBef>
                <a:spcPts val="200"/>
              </a:spcBef>
              <a:buClr>
                <a:srgbClr val="213163"/>
              </a:buCl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173355" indent="-173355">
              <a:spcBef>
                <a:spcPts val="200"/>
              </a:spcBef>
              <a:buClr>
                <a:srgbClr val="213163"/>
              </a:buClr>
              <a:buFont typeface="Arial" panose="020B0604020202020204" pitchFamily="34" charset="0"/>
              <a:buChar char="•"/>
            </a:pPr>
            <a:endParaRPr lang="en-US" dirty="0"/>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Tree>
    <p:extLst>
      <p:ext uri="{BB962C8B-B14F-4D97-AF65-F5344CB8AC3E}">
        <p14:creationId xmlns:p14="http://schemas.microsoft.com/office/powerpoint/2010/main" val="398206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dirty="0">
                <a:solidFill>
                  <a:srgbClr val="213163"/>
                </a:solidFill>
              </a:rPr>
              <a:t>Project Overview</a:t>
            </a:r>
            <a:endParaRPr lang="en-IN" sz="1600" dirty="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367862" y="1437583"/>
            <a:ext cx="8014485"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project involves the analysis of a dataset containing relevant health information of individuals, focusing on parameters known to influence diabetes.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project involves exploratory data analysis (EDA) and the development of a predictive model using machine learning algorithms.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The dataset includes various health parameters such as glucose levels, BMI, blood pressure, and age.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Through data analysis and feature engineering, the goal is to understand patterns and relationships that contribute to diabetes prediction. </a:t>
            </a:r>
          </a:p>
          <a:p>
            <a:pPr marL="173355" indent="-173355">
              <a:spcBef>
                <a:spcPts val="200"/>
              </a:spcBef>
              <a:buClr>
                <a:srgbClr val="213163"/>
              </a:buCl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Tree>
    <p:extLst>
      <p:ext uri="{BB962C8B-B14F-4D97-AF65-F5344CB8AC3E}">
        <p14:creationId xmlns:p14="http://schemas.microsoft.com/office/powerpoint/2010/main" val="128463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Proposed Solution</a:t>
            </a:r>
            <a:endParaRPr lang="en-IN" sz="1600"/>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
        <p:nvSpPr>
          <p:cNvPr id="5" name="TextBox 4"/>
          <p:cNvSpPr txBox="1"/>
          <p:nvPr/>
        </p:nvSpPr>
        <p:spPr>
          <a:xfrm>
            <a:off x="404122" y="1362109"/>
            <a:ext cx="7541699" cy="2554545"/>
          </a:xfrm>
          <a:prstGeom prst="rect">
            <a:avLst/>
          </a:prstGeom>
          <a:noFill/>
        </p:spPr>
        <p:txBody>
          <a:bodyPr wrap="square" rtlCol="0">
            <a:spAutoFit/>
          </a:bodyPr>
          <a:lstStyle/>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Utilizing Python's data analysis capabilities, the project proposes a predictive model that takes into account multiple health parameters. </a:t>
            </a:r>
          </a:p>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Utilizing Machine learning algorithms such as logistic regression, decision trees, random forests, or advanced techniques like support vector machines or neural networks will be employed to analyze historical data and establish patterns, enabling the model to predict the likelihood of an individual developing diabetes.</a:t>
            </a:r>
          </a:p>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proposed solution involves the following key steps such as Data Collection, Data Preprocessing, Exploratory Data Analysis (EDA), Feature Selection, Model Development, Interpretability and Explainability, Continuous Monitoring and Improvem</a:t>
            </a:r>
            <a:r>
              <a:rPr lang="en-US" dirty="0"/>
              <a:t>ent etc.</a:t>
            </a:r>
          </a:p>
        </p:txBody>
      </p:sp>
    </p:spTree>
    <p:extLst>
      <p:ext uri="{BB962C8B-B14F-4D97-AF65-F5344CB8AC3E}">
        <p14:creationId xmlns:p14="http://schemas.microsoft.com/office/powerpoint/2010/main" val="105391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20522" y="682130"/>
            <a:ext cx="2034099" cy="442477"/>
          </a:xfrm>
          <a:prstGeom prst="rect">
            <a:avLst/>
          </a:prstGeom>
          <a:noFill/>
          <a:ln>
            <a:noFill/>
          </a:ln>
        </p:spPr>
        <p:txBody>
          <a:bodyPr spcFirstLastPara="1" wrap="square" lIns="91425" tIns="91425" rIns="91425" bIns="91425" anchor="t" anchorCtr="0">
            <a:noAutofit/>
          </a:bodyPr>
          <a:lstStyle/>
          <a:p>
            <a:r>
              <a:rPr lang="en-IN" sz="1600" b="1" dirty="0">
                <a:solidFill>
                  <a:srgbClr val="213163"/>
                </a:solidFill>
              </a:rPr>
              <a:t>Technology Used</a:t>
            </a:r>
            <a:br>
              <a:rPr lang="en-IN" sz="1600" b="1" dirty="0">
                <a:solidFill>
                  <a:srgbClr val="213163"/>
                </a:solidFill>
              </a:rPr>
            </a:br>
            <a:endParaRPr lang="en-IN" sz="1600" dirty="0"/>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
        <p:nvSpPr>
          <p:cNvPr id="2" name="TextBox 1"/>
          <p:cNvSpPr txBox="1"/>
          <p:nvPr/>
        </p:nvSpPr>
        <p:spPr>
          <a:xfrm>
            <a:off x="120522" y="1134933"/>
            <a:ext cx="8520059" cy="3293209"/>
          </a:xfrm>
          <a:prstGeom prst="rect">
            <a:avLst/>
          </a:prstGeom>
          <a:noFill/>
        </p:spPr>
        <p:txBody>
          <a:bodyPr wrap="square" rtlCol="0">
            <a:spAutoFit/>
          </a:bodyPr>
          <a:lstStyle/>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implementation of the HealthCare Prediction on Diabetic Patients project involves leveraging a comprehensive set of technologies to ensure efficient data analysis and model development. The key technologies used in the project:</a:t>
            </a:r>
          </a:p>
          <a:p>
            <a:pPr marL="285750" indent="-285750">
              <a:buClr>
                <a:srgbClr val="002060"/>
              </a:buCl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Programming Language:</a:t>
            </a:r>
            <a:r>
              <a:rPr lang="en-US" sz="1600" dirty="0">
                <a:latin typeface="Times New Roman" panose="02020603050405020304" pitchFamily="18" charset="0"/>
                <a:cs typeface="Times New Roman" panose="02020603050405020304" pitchFamily="18" charset="0"/>
              </a:rPr>
              <a:t> Python is the primary programming language for its versatility, extensive libraries, and frameworks suitable for data analysis, machine learning, and visualization.</a:t>
            </a:r>
          </a:p>
          <a:p>
            <a:pPr marL="285750" indent="-285750">
              <a:buClr>
                <a:srgbClr val="002060"/>
              </a:buCl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 Analysis Libraries</a:t>
            </a:r>
            <a:r>
              <a:rPr lang="en-US" sz="1600" dirty="0">
                <a:latin typeface="Times New Roman" panose="02020603050405020304" pitchFamily="18" charset="0"/>
                <a:cs typeface="Times New Roman" panose="02020603050405020304" pitchFamily="18" charset="0"/>
              </a:rPr>
              <a:t>: Pandas , Numpy , Matplotlib and Seaborn</a:t>
            </a:r>
          </a:p>
          <a:p>
            <a:pPr marL="285750" indent="-285750">
              <a:buClr>
                <a:srgbClr val="002060"/>
              </a:buCl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Machine learning libraries: </a:t>
            </a:r>
            <a:r>
              <a:rPr lang="en-US" sz="1600" dirty="0">
                <a:latin typeface="Times New Roman" panose="02020603050405020304" pitchFamily="18" charset="0"/>
                <a:cs typeface="Times New Roman" panose="02020603050405020304" pitchFamily="18" charset="0"/>
              </a:rPr>
              <a:t>Scikit-Learn</a:t>
            </a:r>
          </a:p>
          <a:p>
            <a:pPr marL="285750" indent="-285750">
              <a:buClr>
                <a:srgbClr val="002060"/>
              </a:buCl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Jupyter Notebooks: </a:t>
            </a:r>
            <a:r>
              <a:rPr lang="en-US" sz="1600" dirty="0">
                <a:latin typeface="Times New Roman" panose="02020603050405020304" pitchFamily="18" charset="0"/>
                <a:cs typeface="Times New Roman" panose="02020603050405020304" pitchFamily="18" charset="0"/>
              </a:rPr>
              <a:t>It facilitates step-by-step analysis and visualization.</a:t>
            </a:r>
            <a:endParaRPr lang="en-US" sz="1600" b="1" dirty="0">
              <a:latin typeface="Times New Roman" panose="02020603050405020304" pitchFamily="18" charset="0"/>
              <a:cs typeface="Times New Roman" panose="02020603050405020304" pitchFamily="18" charset="0"/>
            </a:endParaRPr>
          </a:p>
          <a:p>
            <a:pPr marL="285750" indent="-285750">
              <a:buClr>
                <a:srgbClr val="002060"/>
              </a:buCl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Machine learning algorithms </a:t>
            </a:r>
            <a:r>
              <a:rPr lang="en-US" sz="1600" dirty="0">
                <a:latin typeface="Times New Roman" panose="02020603050405020304" pitchFamily="18" charset="0"/>
                <a:cs typeface="Times New Roman" panose="02020603050405020304" pitchFamily="18" charset="0"/>
              </a:rPr>
              <a:t>: Logistic regression, Decision trees, Random forests,</a:t>
            </a:r>
            <a:r>
              <a:rPr lang="en-US" sz="1600" dirty="0"/>
              <a:t> </a:t>
            </a:r>
            <a:r>
              <a:rPr lang="en-US" sz="1600" dirty="0">
                <a:latin typeface="Times New Roman" panose="02020603050405020304" pitchFamily="18" charset="0"/>
                <a:cs typeface="Times New Roman" panose="02020603050405020304" pitchFamily="18" charset="0"/>
              </a:rPr>
              <a:t>Support Vector Machines (SVM), and k-Nearest Neighbors (k-NN).</a:t>
            </a:r>
          </a:p>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Synthetic Minority Over-sampling Technique (SMOTE) for oversampling the minority class.</a:t>
            </a:r>
          </a:p>
          <a:p>
            <a:pPr marL="285750" indent="-285750">
              <a:buClr>
                <a:srgbClr val="002060"/>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Receiver Operating Characteristic (ROC) curves are plotted to evaluate the performance of the models.</a:t>
            </a:r>
          </a:p>
        </p:txBody>
      </p:sp>
    </p:spTree>
    <p:extLst>
      <p:ext uri="{BB962C8B-B14F-4D97-AF65-F5344CB8AC3E}">
        <p14:creationId xmlns:p14="http://schemas.microsoft.com/office/powerpoint/2010/main" val="1083245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Modelling &amp; Results</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325822" y="1353500"/>
            <a:ext cx="8388332"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modeling phase involves training and validating the predictive model using a dataset with known outcomes.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Various models, including logistic regression, decision trees, and random forests, were trained and evaluated.</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indicated promising performance, with the model demonstrating a high accuracy rate in identifying patients at risk of diabetes.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will be evaluated based on accuracy, precision, recall, and other relevant metrics to ensure the effectiveness of the model in identifying potential diabetic patients.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Continuous monitoring and updates to the model ensure its adaptability to evolving healthcare scenarios, contributing significantly to the field of predictive healthcare analytics.</a:t>
            </a:r>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Tree>
    <p:extLst>
      <p:ext uri="{BB962C8B-B14F-4D97-AF65-F5344CB8AC3E}">
        <p14:creationId xmlns:p14="http://schemas.microsoft.com/office/powerpoint/2010/main" val="286372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Conclusion</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257156" y="1279928"/>
            <a:ext cx="8224692"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project showcases the application of data analysis and machine learning in predicting diabetes among patients.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outcomes contribute to the broader goal of proactive healthcare management and disease prevention.</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 the project moves forward, continuous refinement and validation of the model with real-world patient data will be crucial. </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Additionally, incorporating feedback from healthcare professionals ensures that the model aligns with clinical insights and remains relevant in dynamic healthcare landscapes.</a:t>
            </a:r>
          </a:p>
          <a:p>
            <a:pPr marL="173355" indent="-173355">
              <a:spcBef>
                <a:spcPts val="200"/>
              </a:spcBef>
              <a:buClr>
                <a:srgbClr val="213163"/>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Ultimately, the HealthCare Prediction on Diabetic Patients project stands as a promising stride towards the integration of data analytics and healthcare, offering a tool that not only aids in prediction but also facilitates a proactive approach towards patient care and well-being.</a:t>
            </a:r>
          </a:p>
        </p:txBody>
      </p:sp>
      <p:sp>
        <p:nvSpPr>
          <p:cNvPr id="3" name="Rectangle: Rounded Corners 2">
            <a:extLst>
              <a:ext uri="{FF2B5EF4-FFF2-40B4-BE49-F238E27FC236}">
                <a16:creationId xmlns:a16="http://schemas.microsoft.com/office/drawing/2014/main" id="{C3BFBE8C-2CE4-84FE-72B6-5D01D1AB9D27}"/>
              </a:ext>
            </a:extLst>
          </p:cNvPr>
          <p:cNvSpPr/>
          <p:nvPr/>
        </p:nvSpPr>
        <p:spPr>
          <a:xfrm>
            <a:off x="7622746" y="4419608"/>
            <a:ext cx="1244188" cy="322898"/>
          </a:xfrm>
          <a:prstGeom prst="roundRect">
            <a:avLst/>
          </a:prstGeom>
          <a:solidFill>
            <a:srgbClr val="0000FF"/>
          </a:solidFill>
          <a:ln>
            <a:solidFill>
              <a:srgbClr val="0000FF"/>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050" b="0" i="0" u="none" strike="noStrike" cap="none">
                <a:solidFill>
                  <a:schemeClr val="lt1"/>
                </a:solidFill>
                <a:latin typeface="+mn-lt"/>
                <a:ea typeface="+mn-ea"/>
                <a:cs typeface="+mn-cs"/>
                <a:sym typeface="Arial"/>
              </a:defRPr>
            </a:lvl9pPr>
          </a:lstStyle>
          <a:p>
            <a:pPr algn="ctr"/>
            <a:r>
              <a:rPr lang="en-US" sz="1200">
                <a:solidFill>
                  <a:schemeClr val="bg1"/>
                </a:solidFill>
                <a:hlinkClick r:id="rId3">
                  <a:extLst>
                    <a:ext uri="{A12FA001-AC4F-418D-AE19-62706E023703}">
                      <ahyp:hlinkClr xmlns:ahyp="http://schemas.microsoft.com/office/drawing/2018/hyperlinkcolor" val="tx"/>
                    </a:ext>
                  </a:extLst>
                </a:hlinkClick>
              </a:rPr>
              <a:t>Reference link</a:t>
            </a:r>
            <a:endParaRPr lang="en-IN" sz="1200">
              <a:solidFill>
                <a:schemeClr val="bg1"/>
              </a:solidFill>
            </a:endParaRPr>
          </a:p>
        </p:txBody>
      </p:sp>
      <p:sp>
        <p:nvSpPr>
          <p:cNvPr id="4" name="TextBox 8">
            <a:extLst>
              <a:ext uri="{FF2B5EF4-FFF2-40B4-BE49-F238E27FC236}">
                <a16:creationId xmlns:a16="http://schemas.microsoft.com/office/drawing/2014/main" id="{66F2BFB1-930D-469C-C48A-9E59A7C1AEE5}"/>
              </a:ext>
            </a:extLst>
          </p:cNvPr>
          <p:cNvSpPr txBox="1"/>
          <p:nvPr/>
        </p:nvSpPr>
        <p:spPr>
          <a:xfrm>
            <a:off x="7849100" y="4178450"/>
            <a:ext cx="791481" cy="230832"/>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IN" sz="900" b="1">
                <a:solidFill>
                  <a:srgbClr val="002060"/>
                </a:solidFill>
              </a:rPr>
              <a:t>Click here</a:t>
            </a:r>
          </a:p>
        </p:txBody>
      </p:sp>
    </p:spTree>
    <p:extLst>
      <p:ext uri="{BB962C8B-B14F-4D97-AF65-F5344CB8AC3E}">
        <p14:creationId xmlns:p14="http://schemas.microsoft.com/office/powerpoint/2010/main" val="2018878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4528" y="2334505"/>
            <a:ext cx="2149019" cy="474489"/>
          </a:xfrm>
          <a:prstGeom prst="rect">
            <a:avLst/>
          </a:prstGeom>
        </p:spPr>
        <p:txBody>
          <a:bodyPr vert="horz" wrap="square" lIns="0" tIns="12700" rIns="0" bIns="0" rtlCol="0">
            <a:spAutoFit/>
          </a:bodyPr>
          <a:lstStyle/>
          <a:p>
            <a:pPr marL="12700">
              <a:lnSpc>
                <a:spcPct val="100000"/>
              </a:lnSpc>
              <a:spcBef>
                <a:spcPts val="100"/>
              </a:spcBef>
            </a:pPr>
            <a:r>
              <a:rPr lang="en-US" sz="3000" b="1" spc="-5">
                <a:solidFill>
                  <a:srgbClr val="223366"/>
                </a:solidFill>
              </a:rPr>
              <a:t>Thank You!</a:t>
            </a:r>
          </a:p>
        </p:txBody>
      </p:sp>
    </p:spTree>
    <p:extLst>
      <p:ext uri="{BB962C8B-B14F-4D97-AF65-F5344CB8AC3E}">
        <p14:creationId xmlns:p14="http://schemas.microsoft.com/office/powerpoint/2010/main" val="398702453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559A34-456E-49A1-8157-9E3D18BFAD36}">
  <ds:schemaRefs>
    <ds:schemaRef ds:uri="http://schemas.microsoft.com/office/2006/documentManagement/types"/>
    <ds:schemaRef ds:uri="c0fa2617-96bd-425d-8578-e93563fe37c5"/>
    <ds:schemaRef ds:uri="http://schemas.microsoft.com/office/infopath/2007/PartnerControls"/>
    <ds:schemaRef ds:uri="http://purl.org/dc/elements/1.1/"/>
    <ds:schemaRef ds:uri="http://purl.org/dc/terms/"/>
    <ds:schemaRef ds:uri="http://schemas.openxmlformats.org/package/2006/metadata/core-properties"/>
    <ds:schemaRef ds:uri="http://www.w3.org/XML/1998/namespace"/>
    <ds:schemaRef ds:uri="9162bd5b-4ed9-4da3-b376-05204580ba3f"/>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273</TotalTime>
  <Words>905</Words>
  <Application>Microsoft Office PowerPoint</Application>
  <PresentationFormat>On-screen Show (16:9)</PresentationFormat>
  <Paragraphs>65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MT</vt:lpstr>
      <vt:lpstr>Calibri</vt:lpstr>
      <vt:lpstr>Poppins</vt:lpstr>
      <vt:lpstr>Times New Roman</vt:lpstr>
      <vt:lpstr>Simple Light</vt:lpstr>
      <vt:lpstr>PowerPoint Presentation</vt:lpstr>
      <vt:lpstr>PowerPoint Presentation</vt:lpstr>
      <vt:lpstr>PowerPoint Presentation</vt:lpstr>
      <vt:lpstr>Abstract</vt:lpstr>
      <vt:lpstr>Problem Statement</vt:lpstr>
      <vt:lpstr>Project Overview</vt:lpstr>
      <vt:lpstr>Proposed Solution</vt:lpstr>
      <vt:lpstr>Technology Used </vt:lpstr>
      <vt:lpstr>Modelling &amp; 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Yashaswini N P</cp:lastModifiedBy>
  <cp:revision>21</cp:revision>
  <dcterms:modified xsi:type="dcterms:W3CDTF">2025-12-07T08:48:03Z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